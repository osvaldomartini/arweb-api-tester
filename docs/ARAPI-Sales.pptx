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393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2926080"/>
            <a:ext cx="8229600" cy="8229600"/>
          </a:xfrm>
          <a:prstGeom prst="ellipse">
            <a:avLst/>
          </a:prstGeom>
          <a:solidFill>
            <a:srgbClr val="1B2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ARWEB  ·  API TEST AUTOMATION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ARAPI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i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banking APIs without writing a line of code.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OpenAPI specs, build test workflows by drag-and-drop, and run them against a safe mock or your real environments — with results your whole team can read.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166360"/>
            <a:ext cx="2053742" cy="566928"/>
          </a:xfrm>
          <a:prstGeom prst="roundRect">
            <a:avLst>
              <a:gd name="adj" fmla="val 50000"/>
            </a:avLst>
          </a:prstGeom>
          <a:solidFill>
            <a:srgbClr val="1B2E63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5266944"/>
            <a:ext cx="365760" cy="36576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376672"/>
            <a:ext cx="146304" cy="1463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5166360"/>
            <a:ext cx="14136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no-code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077870" y="5166360"/>
            <a:ext cx="2547518" cy="566928"/>
          </a:xfrm>
          <a:prstGeom prst="roundRect">
            <a:avLst>
              <a:gd name="adj" fmla="val 50000"/>
            </a:avLst>
          </a:prstGeom>
          <a:solidFill>
            <a:srgbClr val="1B2E63"/>
          </a:solidFill>
          <a:ln/>
        </p:spPr>
      </p:sp>
      <p:sp>
        <p:nvSpPr>
          <p:cNvPr id="12" name="Shape 9"/>
          <p:cNvSpPr/>
          <p:nvPr/>
        </p:nvSpPr>
        <p:spPr>
          <a:xfrm>
            <a:off x="3196742" y="5266944"/>
            <a:ext cx="365760" cy="36576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470" y="5376672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26510" y="5166360"/>
            <a:ext cx="19074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banking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826557" y="5166360"/>
            <a:ext cx="2350008" cy="566928"/>
          </a:xfrm>
          <a:prstGeom prst="roundRect">
            <a:avLst>
              <a:gd name="adj" fmla="val 50000"/>
            </a:avLst>
          </a:prstGeom>
          <a:solidFill>
            <a:srgbClr val="1B2E63"/>
          </a:solidFill>
          <a:ln/>
        </p:spPr>
      </p:sp>
      <p:sp>
        <p:nvSpPr>
          <p:cNvPr id="16" name="Shape 12"/>
          <p:cNvSpPr/>
          <p:nvPr/>
        </p:nvSpPr>
        <p:spPr>
          <a:xfrm>
            <a:off x="5945429" y="5266944"/>
            <a:ext cx="365760" cy="36576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157" y="5376672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5197" y="516636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builder</a:t>
            </a:r>
            <a:endParaRPr lang="en-US" sz="1450" dirty="0"/>
          </a:p>
        </p:txBody>
      </p:sp>
      <p:pic>
        <p:nvPicPr>
          <p:cNvPr id="19" name="Image 3" descr="assets/app_designer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80760" y="1417320"/>
            <a:ext cx="5715000" cy="3630168"/>
          </a:xfrm>
          <a:prstGeom prst="rect">
            <a:avLst/>
          </a:prstGeom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shouldn’t need a team of engineers.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teams in banking spend weeks scripting tests by hand. ARAPI turns your API specs into a living catalog, lets anyone assemble test workflows visually, and runs them safely — so you catch problems before your customers do.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3429000"/>
            <a:ext cx="914400" cy="91440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703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38912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2B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005840" y="53035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to write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02736" y="306324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22776" y="3429000"/>
            <a:ext cx="914400" cy="91440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096" y="3703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02736" y="438912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/>
          </a:p>
        </p:txBody>
      </p:sp>
      <p:sp>
        <p:nvSpPr>
          <p:cNvPr id="14" name="Text 10"/>
          <p:cNvSpPr/>
          <p:nvPr/>
        </p:nvSpPr>
        <p:spPr>
          <a:xfrm>
            <a:off x="3785616" y="53035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domains mapped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382512" y="306324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702552" y="3429000"/>
            <a:ext cx="914400" cy="914400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872" y="3703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438912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B2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9" name="Text 14"/>
          <p:cNvSpPr/>
          <p:nvPr/>
        </p:nvSpPr>
        <p:spPr>
          <a:xfrm>
            <a:off x="6565392" y="53035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commands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9162288" y="306324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82328" y="3429000"/>
            <a:ext cx="914400" cy="914400"/>
          </a:xfrm>
          <a:prstGeom prst="ellipse">
            <a:avLst/>
          </a:prstGeom>
          <a:solidFill>
            <a:srgbClr val="0E8C8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6648" y="37033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62288" y="438912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24" name="Text 18"/>
          <p:cNvSpPr/>
          <p:nvPr/>
        </p:nvSpPr>
        <p:spPr>
          <a:xfrm>
            <a:off x="9345168" y="53035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 supported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test by dragging blocks</a:t>
            </a:r>
            <a:endParaRPr lang="en-US" sz="3400" dirty="0"/>
          </a:p>
        </p:txBody>
      </p:sp>
      <p:pic>
        <p:nvPicPr>
          <p:cNvPr id="4" name="Image 0" descr="assets/app_design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828800"/>
            <a:ext cx="6949440" cy="4416552"/>
          </a:xfrm>
          <a:prstGeom prst="rect">
            <a:avLst/>
          </a:prstGeom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00100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i="1" dirty="0">
                <a:solidFill>
                  <a:srgbClr val="0E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scripts. No framework setup.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001000" y="260604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02168" y="2880360"/>
            <a:ext cx="603504" cy="603504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219" y="3061411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0" y="27340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Import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961120" y="309981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your OpenAPI or Swagger files — whole folders welcome.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001000" y="38862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02168" y="4160520"/>
            <a:ext cx="603504" cy="603504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219" y="4341571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61120" y="40142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Design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961120" y="437997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commands onto the canvas to shape the flow.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001000" y="51663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02168" y="5440680"/>
            <a:ext cx="603504" cy="603504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219" y="5621731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61120" y="52943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Run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961120" y="5660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against the mock, staging or production.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1B2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everyone can read</a:t>
            </a:r>
            <a:endParaRPr lang="en-US" sz="3400" dirty="0"/>
          </a:p>
        </p:txBody>
      </p:sp>
      <p:pic>
        <p:nvPicPr>
          <p:cNvPr id="5" name="Image 0" descr="assets/app_resul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783080"/>
            <a:ext cx="7680960" cy="4882896"/>
          </a:xfrm>
          <a:prstGeom prst="rect">
            <a:avLst/>
          </a:prstGeom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778240" y="1965960"/>
            <a:ext cx="566928" cy="566928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8318" y="2136038"/>
            <a:ext cx="226771" cy="2267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0976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pass / fail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509760" y="235000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C2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request, assertion and timing, laid out clearly.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778240" y="3474720"/>
            <a:ext cx="566928" cy="566928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8318" y="3644798"/>
            <a:ext cx="226771" cy="2267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0976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&amp; CSV reports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9509760" y="38587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C2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polished report or pipe data into Excel and BI.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778240" y="4983480"/>
            <a:ext cx="566928" cy="566928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8318" y="5153558"/>
            <a:ext cx="226771" cy="22677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509760" y="4937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run history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9509760" y="536752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C2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execution stored, filterable by workflow.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API spec to confident release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627632" cy="2468880"/>
          </a:xfrm>
          <a:prstGeom prst="roundRect">
            <a:avLst>
              <a:gd name="adj" fmla="val 73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2697480"/>
            <a:ext cx="914400" cy="91440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971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1605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&amp; folders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432304" y="3017520"/>
            <a:ext cx="1956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2609698" y="2377440"/>
            <a:ext cx="1627632" cy="2468880"/>
          </a:xfrm>
          <a:prstGeom prst="roundRect">
            <a:avLst>
              <a:gd name="adj" fmla="val 73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66314" y="2697480"/>
            <a:ext cx="914400" cy="91440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634" y="2971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19426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609698" y="37490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2655418" y="41605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domains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219042" y="3017520"/>
            <a:ext cx="1956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4396435" y="2377440"/>
            <a:ext cx="1627632" cy="2468880"/>
          </a:xfrm>
          <a:prstGeom prst="roundRect">
            <a:avLst>
              <a:gd name="adj" fmla="val 73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3051" y="2697480"/>
            <a:ext cx="914400" cy="914400"/>
          </a:xfrm>
          <a:prstGeom prst="ellipse">
            <a:avLst/>
          </a:prstGeom>
          <a:solidFill>
            <a:srgbClr val="7C5CB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371" y="29718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06163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4396435" y="37490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4442155" y="41605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builder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005779" y="3017520"/>
            <a:ext cx="1956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6183173" y="2377440"/>
            <a:ext cx="1627632" cy="2468880"/>
          </a:xfrm>
          <a:prstGeom prst="roundRect">
            <a:avLst>
              <a:gd name="adj" fmla="val 73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39789" y="2697480"/>
            <a:ext cx="914400" cy="914400"/>
          </a:xfrm>
          <a:prstGeom prst="ellipse">
            <a:avLst/>
          </a:prstGeom>
          <a:solidFill>
            <a:srgbClr val="2BA84A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109" y="297180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92901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6183173" y="37490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6228893" y="41605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or live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7792517" y="3017520"/>
            <a:ext cx="1956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26"/>
          <p:cNvSpPr/>
          <p:nvPr/>
        </p:nvSpPr>
        <p:spPr>
          <a:xfrm>
            <a:off x="7969910" y="2377440"/>
            <a:ext cx="1627632" cy="2468880"/>
          </a:xfrm>
          <a:prstGeom prst="roundRect">
            <a:avLst>
              <a:gd name="adj" fmla="val 73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326526" y="2697480"/>
            <a:ext cx="914400" cy="914400"/>
          </a:xfrm>
          <a:prstGeom prst="ellipse">
            <a:avLst/>
          </a:prstGeom>
          <a:solidFill>
            <a:srgbClr val="E0962E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0846" y="2971800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079638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7969910" y="37490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37" name="Text 30"/>
          <p:cNvSpPr/>
          <p:nvPr/>
        </p:nvSpPr>
        <p:spPr>
          <a:xfrm>
            <a:off x="8015630" y="41605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history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9579254" y="3017520"/>
            <a:ext cx="1956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9" name="Shape 32"/>
          <p:cNvSpPr/>
          <p:nvPr/>
        </p:nvSpPr>
        <p:spPr>
          <a:xfrm>
            <a:off x="9756648" y="2377440"/>
            <a:ext cx="1627632" cy="2468880"/>
          </a:xfrm>
          <a:prstGeom prst="roundRect">
            <a:avLst>
              <a:gd name="adj" fmla="val 73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113264" y="2697480"/>
            <a:ext cx="914400" cy="914400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7584" y="2971800"/>
            <a:ext cx="365760" cy="3657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866376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35"/>
          <p:cNvSpPr/>
          <p:nvPr/>
        </p:nvSpPr>
        <p:spPr>
          <a:xfrm>
            <a:off x="9756648" y="37490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Builder</a:t>
            </a:r>
            <a:endParaRPr lang="en-US" sz="1700" dirty="0"/>
          </a:p>
        </p:txBody>
      </p:sp>
      <p:sp>
        <p:nvSpPr>
          <p:cNvPr id="44" name="Text 36"/>
          <p:cNvSpPr/>
          <p:nvPr/>
        </p:nvSpPr>
        <p:spPr>
          <a:xfrm>
            <a:off x="9802368" y="41605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to test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flows into the next — and the AI Builder can do all of it from a single chat.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TEST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ask the Bot Builder</a:t>
            </a:r>
            <a:endParaRPr lang="en-US" sz="3400" dirty="0"/>
          </a:p>
        </p:txBody>
      </p:sp>
      <p:pic>
        <p:nvPicPr>
          <p:cNvPr id="4" name="Image 0" descr="assets/app_botbuild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600200"/>
            <a:ext cx="5120640" cy="3877056"/>
          </a:xfrm>
          <a:prstGeom prst="rect">
            <a:avLst/>
          </a:prstGeom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22960" y="1783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E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doesn’t just chat — it takes action.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52120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761488"/>
            <a:ext cx="585216" cy="585216"/>
          </a:xfrm>
          <a:prstGeom prst="ellipse">
            <a:avLst/>
          </a:prstGeom>
          <a:solidFill>
            <a:srgbClr val="DDE7F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405" y="2937053"/>
            <a:ext cx="234086" cy="2340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6517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your catalog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737360" y="30266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endpoints related to KYC and onboarding.”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3739896"/>
            <a:ext cx="52120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005840" y="3986784"/>
            <a:ext cx="585216" cy="585216"/>
          </a:xfrm>
          <a:prstGeom prst="ellipse">
            <a:avLst/>
          </a:prstGeom>
          <a:solidFill>
            <a:srgbClr val="DDE7F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405" y="4162349"/>
            <a:ext cx="234086" cy="2340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38770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BotJobs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737360" y="4251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test for the payment transfer flow.”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22960" y="4965192"/>
            <a:ext cx="52120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05840" y="5212080"/>
            <a:ext cx="585216" cy="585216"/>
          </a:xfrm>
          <a:prstGeom prst="ellipse">
            <a:avLst/>
          </a:prstGeom>
          <a:solidFill>
            <a:srgbClr val="DD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405" y="5387645"/>
            <a:ext cx="234086" cy="2340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51023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tests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1737360" y="54772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 Client Onboarding against the Mock Server.”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commands cover any test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and match these to model any banking workflow — no programming required.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386584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494" y="2556662"/>
            <a:ext cx="226771" cy="2267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8658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Call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60704" y="304495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request to any endpoint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66160" y="214884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85616" y="2386584"/>
            <a:ext cx="566928" cy="566928"/>
          </a:xfrm>
          <a:prstGeom prst="ellipse">
            <a:avLst/>
          </a:prstGeom>
          <a:solidFill>
            <a:srgbClr val="7C5CB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694" y="2556662"/>
            <a:ext cx="226771" cy="2267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238658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Variable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3803904" y="304495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or compute a value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09360" y="214884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28816" y="2386584"/>
            <a:ext cx="566928" cy="566928"/>
          </a:xfrm>
          <a:prstGeom prst="ellipse">
            <a:avLst/>
          </a:prstGeom>
          <a:solidFill>
            <a:srgbClr val="7C5CB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8894" y="2556662"/>
            <a:ext cx="226771" cy="22677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23760" y="238658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547104" y="304495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 value from a response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52560" y="214884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2386584"/>
            <a:ext cx="566928" cy="566928"/>
          </a:xfrm>
          <a:prstGeom prst="ellipse">
            <a:avLst/>
          </a:prstGeom>
          <a:solidFill>
            <a:srgbClr val="2BA84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2094" y="2556662"/>
            <a:ext cx="226771" cy="22677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966960" y="238658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Status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9290304" y="304495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HTTP status code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822960" y="3822192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42416" y="4059936"/>
            <a:ext cx="566928" cy="566928"/>
          </a:xfrm>
          <a:prstGeom prst="ellipse">
            <a:avLst/>
          </a:prstGeom>
          <a:solidFill>
            <a:srgbClr val="2BA84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2494" y="4230014"/>
            <a:ext cx="226771" cy="22677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37360" y="405993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Field</a:t>
            </a:r>
            <a:endParaRPr lang="en-US" sz="1650" dirty="0"/>
          </a:p>
        </p:txBody>
      </p:sp>
      <p:sp>
        <p:nvSpPr>
          <p:cNvPr id="29" name="Text 22"/>
          <p:cNvSpPr/>
          <p:nvPr/>
        </p:nvSpPr>
        <p:spPr>
          <a:xfrm>
            <a:off x="1060704" y="471830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value in the response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3566160" y="3822192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785616" y="4059936"/>
            <a:ext cx="566928" cy="566928"/>
          </a:xfrm>
          <a:prstGeom prst="ellipse">
            <a:avLst/>
          </a:prstGeom>
          <a:solidFill>
            <a:srgbClr val="2BA84A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5694" y="4230014"/>
            <a:ext cx="226771" cy="22677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480560" y="405993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Exists</a:t>
            </a:r>
            <a:endParaRPr lang="en-US" sz="1650" dirty="0"/>
          </a:p>
        </p:txBody>
      </p:sp>
      <p:sp>
        <p:nvSpPr>
          <p:cNvPr id="34" name="Text 26"/>
          <p:cNvSpPr/>
          <p:nvPr/>
        </p:nvSpPr>
        <p:spPr>
          <a:xfrm>
            <a:off x="3803904" y="471830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 field is present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6309360" y="3822192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528816" y="4059936"/>
            <a:ext cx="566928" cy="566928"/>
          </a:xfrm>
          <a:prstGeom prst="ellipse">
            <a:avLst/>
          </a:prstGeom>
          <a:solidFill>
            <a:srgbClr val="E0962E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8894" y="4230014"/>
            <a:ext cx="226771" cy="226771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223760" y="405993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</a:t>
            </a:r>
            <a:endParaRPr lang="en-US" sz="1650" dirty="0"/>
          </a:p>
        </p:txBody>
      </p:sp>
      <p:sp>
        <p:nvSpPr>
          <p:cNvPr id="39" name="Text 30"/>
          <p:cNvSpPr/>
          <p:nvPr/>
        </p:nvSpPr>
        <p:spPr>
          <a:xfrm>
            <a:off x="6547104" y="471830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async operations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9052560" y="3822192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272016" y="4059936"/>
            <a:ext cx="566928" cy="566928"/>
          </a:xfrm>
          <a:prstGeom prst="ellipse">
            <a:avLst/>
          </a:prstGeom>
          <a:solidFill>
            <a:srgbClr val="E0962E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2094" y="4230014"/>
            <a:ext cx="226771" cy="226771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966960" y="405993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on Failure</a:t>
            </a:r>
            <a:endParaRPr lang="en-US" sz="1650" dirty="0"/>
          </a:p>
        </p:txBody>
      </p:sp>
      <p:sp>
        <p:nvSpPr>
          <p:cNvPr id="44" name="Text 34"/>
          <p:cNvSpPr/>
          <p:nvPr/>
        </p:nvSpPr>
        <p:spPr>
          <a:xfrm>
            <a:off x="9290304" y="471830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if a critical step fails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7315200" cy="7315200"/>
          </a:xfrm>
          <a:prstGeom prst="ellipse">
            <a:avLst/>
          </a:prstGeom>
          <a:solidFill>
            <a:srgbClr val="1B2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BANKS TRUST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to run, anywhere.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1B2E63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2258568"/>
            <a:ext cx="777240" cy="77724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917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22199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without touching production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2103120" y="280720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2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Mock Server replays your catalog — zero risk to real banking systems.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37960" y="19659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1B2E63"/>
          </a:solidFill>
          <a:ln/>
        </p:spPr>
      </p:sp>
      <p:sp>
        <p:nvSpPr>
          <p:cNvPr id="11" name="Shape 8"/>
          <p:cNvSpPr/>
          <p:nvPr/>
        </p:nvSpPr>
        <p:spPr>
          <a:xfrm>
            <a:off x="6830568" y="2258568"/>
            <a:ext cx="777240" cy="77724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24917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222199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phantom endpoints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7818120" y="280720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2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is validated against your live catalog before it runs. ARAPI can’t invent APIs.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22960" y="42062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1B2E63"/>
          </a:solidFill>
          <a:ln/>
        </p:spPr>
      </p:sp>
      <p:sp>
        <p:nvSpPr>
          <p:cNvPr id="16" name="Shape 12"/>
          <p:cNvSpPr/>
          <p:nvPr/>
        </p:nvSpPr>
        <p:spPr>
          <a:xfrm>
            <a:off x="1115568" y="4498848"/>
            <a:ext cx="777240" cy="77724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740" y="473202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46227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by default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2103120" y="504748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2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secured with AES-256. Secrets are masked in logs, reports and responses.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537960" y="42062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1B2E63"/>
          </a:solidFill>
          <a:ln/>
        </p:spPr>
      </p:sp>
      <p:sp>
        <p:nvSpPr>
          <p:cNvPr id="21" name="Shape 16"/>
          <p:cNvSpPr/>
          <p:nvPr/>
        </p:nvSpPr>
        <p:spPr>
          <a:xfrm>
            <a:off x="6830568" y="4498848"/>
            <a:ext cx="777240" cy="77724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473202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18120" y="446227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your terms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7818120" y="504748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2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locally-bound services behind your proxy. On-prem AI keeps data in your network.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82880"/>
            <a:ext cx="6217920" cy="6217920"/>
          </a:xfrm>
          <a:prstGeom prst="ellipse">
            <a:avLst/>
          </a:prstGeom>
          <a:solidFill>
            <a:srgbClr val="12B5A5">
              <a:alpha val="20000"/>
            </a:srgbClr>
          </a:solidFill>
          <a:ln/>
        </p:spPr>
      </p:sp>
      <p:pic>
        <p:nvPicPr>
          <p:cNvPr id="3" name="Image 0" descr="assets/app_botbuild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0" y="1828800"/>
            <a:ext cx="3931920" cy="2980944"/>
          </a:xfrm>
          <a:prstGeom prst="rect">
            <a:avLst/>
          </a:prstGeom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8686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7830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banking APIs with confidence.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68680" y="365760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ARAPI at the specs you already have and start testing in minutes — no code, no risk to production, and an AI assistant ready to do the heavy lifting.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5074920"/>
            <a:ext cx="3108960" cy="777240"/>
          </a:xfrm>
          <a:prstGeom prst="roundRect">
            <a:avLst>
              <a:gd name="adj" fmla="val 49412"/>
            </a:avLst>
          </a:prstGeom>
          <a:solidFill>
            <a:srgbClr val="E9B949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 live demo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6080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A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ARWeb  ·  ARAPI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Office PowerPoint</Application>
  <PresentationFormat>Widescreen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ARAPI</dc:title>
  <dc:subject>PptxGenJS Presentation</dc:subject>
  <dc:creator>ARWeb</dc:creator>
  <cp:lastModifiedBy>Osvaldo Martini</cp:lastModifiedBy>
  <cp:revision>1</cp:revision>
  <dcterms:created xsi:type="dcterms:W3CDTF">2026-06-11T06:42:53Z</dcterms:created>
  <dcterms:modified xsi:type="dcterms:W3CDTF">2026-06-11T06:46:49Z</dcterms:modified>
</cp:coreProperties>
</file>