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160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8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6949440" cy="6949440"/>
          </a:xfrm>
          <a:prstGeom prst="ellipse">
            <a:avLst/>
          </a:prstGeom>
          <a:solidFill>
            <a:srgbClr val="1B2E63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457200"/>
            <a:ext cx="5669280" cy="5669280"/>
          </a:xfrm>
          <a:prstGeom prst="ellipse">
            <a:avLst/>
          </a:prstGeom>
          <a:solidFill>
            <a:srgbClr val="12B5A5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ARWEB  ·  AI BANKING ASSISTANT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Conversational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bank’s knowledge — one conversation away.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your staff and clients simply talk to. Ask a question in plain language; get a clear, trustworthy answer drawn from your bank’s own systems.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00600"/>
            <a:ext cx="2340864" cy="566928"/>
          </a:xfrm>
          <a:prstGeom prst="roundRect">
            <a:avLst>
              <a:gd name="adj" fmla="val 50000"/>
            </a:avLst>
          </a:prstGeom>
          <a:solidFill>
            <a:srgbClr val="1B2E63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4901184"/>
            <a:ext cx="365760" cy="36576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010912"/>
            <a:ext cx="146304" cy="146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480060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24/7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3392424" y="4800600"/>
            <a:ext cx="2656332" cy="566928"/>
          </a:xfrm>
          <a:prstGeom prst="roundRect">
            <a:avLst>
              <a:gd name="adj" fmla="val 50000"/>
            </a:avLst>
          </a:prstGeom>
          <a:solidFill>
            <a:srgbClr val="1B2E63"/>
          </a:solidFill>
          <a:ln/>
        </p:spPr>
      </p:sp>
      <p:sp>
        <p:nvSpPr>
          <p:cNvPr id="13" name="Shape 10"/>
          <p:cNvSpPr/>
          <p:nvPr/>
        </p:nvSpPr>
        <p:spPr>
          <a:xfrm>
            <a:off x="3511296" y="4901184"/>
            <a:ext cx="365760" cy="36576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5010912"/>
            <a:ext cx="146304" cy="1463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41064" y="4800600"/>
            <a:ext cx="2016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&amp; Italian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277356" y="4800600"/>
            <a:ext cx="2551176" cy="566928"/>
          </a:xfrm>
          <a:prstGeom prst="roundRect">
            <a:avLst>
              <a:gd name="adj" fmla="val 50000"/>
            </a:avLst>
          </a:prstGeom>
          <a:solidFill>
            <a:srgbClr val="1B2E63"/>
          </a:solidFill>
          <a:ln/>
        </p:spPr>
      </p:sp>
      <p:sp>
        <p:nvSpPr>
          <p:cNvPr id="17" name="Shape 13"/>
          <p:cNvSpPr/>
          <p:nvPr/>
        </p:nvSpPr>
        <p:spPr>
          <a:xfrm>
            <a:off x="6396228" y="4901184"/>
            <a:ext cx="365760" cy="36576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5010912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25996" y="4800600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secure</a:t>
            </a:r>
            <a:endParaRPr lang="en-US" sz="1450" dirty="0"/>
          </a:p>
        </p:txBody>
      </p:sp>
      <p:pic>
        <p:nvPicPr>
          <p:cNvPr id="20" name="Image 3" descr="assets/phone_client_balanc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9680" y="640080"/>
            <a:ext cx="26974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answers shouldn’t need a banking degree.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clients and your front office both want the same thing — a straight answer, fast. AR Conversational understands the question, finds it in your real banking systems, and replies in clear words. No menus, no jargon, no waiting on hold.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3429000"/>
            <a:ext cx="914400" cy="91440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703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38912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2B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051560" y="53035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on, never tired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02736" y="306324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22776" y="3429000"/>
            <a:ext cx="914400" cy="91440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096" y="3703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02736" y="438912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4" name="Text 10"/>
          <p:cNvSpPr/>
          <p:nvPr/>
        </p:nvSpPr>
        <p:spPr>
          <a:xfrm>
            <a:off x="3831336" y="53035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out of the box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382512" y="306324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702552" y="3429000"/>
            <a:ext cx="914400" cy="914400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872" y="3703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438912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B2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400" dirty="0"/>
          </a:p>
        </p:txBody>
      </p:sp>
      <p:sp>
        <p:nvSpPr>
          <p:cNvPr id="19" name="Text 14"/>
          <p:cNvSpPr/>
          <p:nvPr/>
        </p:nvSpPr>
        <p:spPr>
          <a:xfrm>
            <a:off x="6611112" y="53035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assistants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9162288" y="306324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82328" y="3429000"/>
            <a:ext cx="914400" cy="914400"/>
          </a:xfrm>
          <a:prstGeom prst="ellipse">
            <a:avLst/>
          </a:prstGeom>
          <a:solidFill>
            <a:srgbClr val="0E8C8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6648" y="37033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62288" y="438912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/>
          </a:p>
        </p:txBody>
      </p:sp>
      <p:sp>
        <p:nvSpPr>
          <p:cNvPr id="24" name="Text 18"/>
          <p:cNvSpPr/>
          <p:nvPr/>
        </p:nvSpPr>
        <p:spPr>
          <a:xfrm>
            <a:off x="9390888" y="53035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domains covered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your clients</a:t>
            </a:r>
            <a:endParaRPr lang="en-US" sz="3400" dirty="0"/>
          </a:p>
        </p:txBody>
      </p:sp>
      <p:pic>
        <p:nvPicPr>
          <p:cNvPr id="4" name="Image 0" descr="assets/phone_client_bal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2423160" cy="4937760"/>
          </a:xfrm>
          <a:prstGeom prst="rect">
            <a:avLst/>
          </a:prstGeom>
        </p:spPr>
      </p:pic>
      <p:pic>
        <p:nvPicPr>
          <p:cNvPr id="5" name="Image 1" descr="assets/phone_client_portfolio_i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46120" y="1554480"/>
            <a:ext cx="2423160" cy="4937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0" y="1691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i="1" dirty="0">
                <a:solidFill>
                  <a:srgbClr val="0E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English or Italian — no training needed.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6400800" y="2606040"/>
            <a:ext cx="50292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629400" y="2852928"/>
            <a:ext cx="585216" cy="585216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965" y="3028493"/>
            <a:ext cx="234086" cy="2340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60920" y="27523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Ask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360920" y="31089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my balance?” — typed the way they’d say it.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400800" y="3849624"/>
            <a:ext cx="50292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629400" y="4096512"/>
            <a:ext cx="585216" cy="585216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965" y="4272077"/>
            <a:ext cx="234086" cy="23408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60920" y="3995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Answer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7360920" y="435254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reply in seconds, in everyday language.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400800" y="5093208"/>
            <a:ext cx="50292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29400" y="5340096"/>
            <a:ext cx="585216" cy="585216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4965" y="5515661"/>
            <a:ext cx="234086" cy="23408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60920" y="5239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Proof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7360920" y="55961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shows the source it came from.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943600" cy="5943600"/>
          </a:xfrm>
          <a:prstGeom prst="ellipse">
            <a:avLst/>
          </a:prstGeom>
          <a:solidFill>
            <a:srgbClr val="1B2E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269480" y="822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for your front office</a:t>
            </a:r>
            <a:endParaRPr lang="en-US" sz="3200" dirty="0"/>
          </a:p>
        </p:txBody>
      </p:sp>
      <p:pic>
        <p:nvPicPr>
          <p:cNvPr id="5" name="Image 0" descr="assets/phone_employee_am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685800"/>
            <a:ext cx="274320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2336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7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managers, cash desks and compliance teams get instant, evidence-backed answers — without digging through five systems.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023360" y="2788920"/>
            <a:ext cx="736092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206240" y="2962656"/>
            <a:ext cx="365760" cy="365760"/>
          </a:xfrm>
          <a:prstGeom prst="ellipse">
            <a:avLst/>
          </a:prstGeom>
          <a:solidFill>
            <a:srgbClr val="DFF4F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3072384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278892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the AML screening status for client 12345?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4023360" y="3666744"/>
            <a:ext cx="736092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206240" y="3840480"/>
            <a:ext cx="365760" cy="365760"/>
          </a:xfrm>
          <a:prstGeom prst="ellipse">
            <a:avLst/>
          </a:prstGeom>
          <a:solidFill>
            <a:srgbClr val="DFF4F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3950208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3666744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SEPA payments are pending settlement today?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4023360" y="4544568"/>
            <a:ext cx="736092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4206240" y="4718304"/>
            <a:ext cx="365760" cy="365760"/>
          </a:xfrm>
          <a:prstGeom prst="ellipse">
            <a:avLst/>
          </a:prstGeom>
          <a:solidFill>
            <a:srgbClr val="DFF4F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4828032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54880" y="4544568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portfolio allocation for account CH93-0076.</a:t>
            </a:r>
            <a:endParaRPr lang="en-US" sz="1550" dirty="0"/>
          </a:p>
        </p:txBody>
      </p:sp>
      <p:sp>
        <p:nvSpPr>
          <p:cNvPr id="19" name="Shape 13"/>
          <p:cNvSpPr/>
          <p:nvPr/>
        </p:nvSpPr>
        <p:spPr>
          <a:xfrm>
            <a:off x="4023360" y="5422392"/>
            <a:ext cx="736092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4206240" y="5596128"/>
            <a:ext cx="365760" cy="365760"/>
          </a:xfrm>
          <a:prstGeom prst="ellipse">
            <a:avLst/>
          </a:prstGeom>
          <a:solidFill>
            <a:srgbClr val="DFF4F1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5705856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54880" y="5422392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suspicious activity flagged in the last 30 days?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simple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83280" cy="365760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E2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1234440" y="2606040"/>
            <a:ext cx="1051560" cy="1051560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908" y="29215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234440" y="45262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speak a question in plain language — English or Italian.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6052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572000" y="2103120"/>
            <a:ext cx="3383280" cy="365760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494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E2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3" name="Shape 10"/>
          <p:cNvSpPr/>
          <p:nvPr/>
        </p:nvSpPr>
        <p:spPr>
          <a:xfrm>
            <a:off x="4983480" y="2606040"/>
            <a:ext cx="1051560" cy="105156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948" y="292150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8348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4983480" y="45262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finds the answer in your bank’s real systems and replies clearly.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90956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8321040" y="2103120"/>
            <a:ext cx="3383280" cy="365760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06984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E2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20" name="Shape 16"/>
          <p:cNvSpPr/>
          <p:nvPr/>
        </p:nvSpPr>
        <p:spPr>
          <a:xfrm>
            <a:off x="8732520" y="2606040"/>
            <a:ext cx="1051560" cy="105156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7988" y="292150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3252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proof</a:t>
            </a:r>
            <a:endParaRPr lang="en-US" sz="2300" dirty="0"/>
          </a:p>
        </p:txBody>
      </p:sp>
      <p:sp>
        <p:nvSpPr>
          <p:cNvPr id="23" name="Text 18"/>
          <p:cNvSpPr/>
          <p:nvPr/>
        </p:nvSpPr>
        <p:spPr>
          <a:xfrm>
            <a:off x="8732520" y="45262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shows exactly which source it came from.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ASSISTANT, TWO EXPERIENCES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staff and clients alike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25780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257800" cy="1097280"/>
          </a:xfrm>
          <a:prstGeom prst="roundRect">
            <a:avLst>
              <a:gd name="adj" fmla="val 11667"/>
            </a:avLst>
          </a:prstGeom>
          <a:solidFill>
            <a:srgbClr val="1B2E6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14600"/>
            <a:ext cx="5257800" cy="548640"/>
          </a:xfrm>
          <a:prstGeom prst="rect">
            <a:avLst/>
          </a:prstGeom>
          <a:solidFill>
            <a:srgbClr val="1B2E63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21284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051" y="2393899"/>
            <a:ext cx="241402" cy="24140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43000" y="2212848"/>
            <a:ext cx="603504" cy="60350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234440" y="23042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627" y="2430475"/>
            <a:ext cx="168250" cy="168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21762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Mode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1874520" y="25877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internal teams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88720" y="3246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specialist assistants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1234440" y="374904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&amp; portfolio managers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payments &amp; treasury desks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risk &amp; back office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+ regulatory reach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537960" y="1965960"/>
            <a:ext cx="525780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37960" y="1965960"/>
            <a:ext cx="5257800" cy="1097280"/>
          </a:xfrm>
          <a:prstGeom prst="roundRect">
            <a:avLst>
              <a:gd name="adj" fmla="val 11667"/>
            </a:avLst>
          </a:prstGeom>
          <a:solidFill>
            <a:srgbClr val="B9851F"/>
          </a:solidFill>
          <a:ln/>
        </p:spPr>
      </p:sp>
      <p:sp>
        <p:nvSpPr>
          <p:cNvPr id="18" name="Shape 14"/>
          <p:cNvSpPr/>
          <p:nvPr/>
        </p:nvSpPr>
        <p:spPr>
          <a:xfrm>
            <a:off x="6537960" y="2514600"/>
            <a:ext cx="5257800" cy="548640"/>
          </a:xfrm>
          <a:prstGeom prst="rect">
            <a:avLst/>
          </a:prstGeom>
          <a:solidFill>
            <a:srgbClr val="B9851F"/>
          </a:solidFill>
          <a:ln/>
        </p:spPr>
      </p:sp>
      <p:sp>
        <p:nvSpPr>
          <p:cNvPr id="19" name="Shape 15"/>
          <p:cNvSpPr/>
          <p:nvPr/>
        </p:nvSpPr>
        <p:spPr>
          <a:xfrm>
            <a:off x="6858000" y="221284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051" y="2393899"/>
            <a:ext cx="241402" cy="24140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858000" y="2212848"/>
            <a:ext cx="603504" cy="60350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6949440" y="23042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627" y="2430475"/>
            <a:ext cx="168250" cy="1682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9520" y="21762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Mode</a:t>
            </a:r>
            <a:endParaRPr lang="en-US" sz="2300" dirty="0"/>
          </a:p>
        </p:txBody>
      </p:sp>
      <p:sp>
        <p:nvSpPr>
          <p:cNvPr id="25" name="Text 19"/>
          <p:cNvSpPr/>
          <p:nvPr/>
        </p:nvSpPr>
        <p:spPr>
          <a:xfrm>
            <a:off x="7589520" y="25877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retail &amp; private customers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903720" y="3246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98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specialist assistants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6949440" y="374904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transactions &amp; statements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value &amp; performance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Loans, cards &amp; repayments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Simplified, client-safe language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Fourteen specialists, one chat box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routes every question to the right expert automatically — you just ask.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STAFF — 9 ASSISTANTS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9264" y="2715768"/>
            <a:ext cx="512064" cy="512064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" y="2869387"/>
            <a:ext cx="204826" cy="2048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25146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Manager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035808" y="251460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82112" y="2715768"/>
            <a:ext cx="512064" cy="512064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5731" y="2869387"/>
            <a:ext cx="204826" cy="204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85616" y="25146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Advisor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248656" y="251460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94960" y="2715768"/>
            <a:ext cx="512064" cy="512064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8579" y="2869387"/>
            <a:ext cx="204826" cy="204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98464" y="25146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Payments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461504" y="251460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607808" y="2715768"/>
            <a:ext cx="512064" cy="512064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427" y="2869387"/>
            <a:ext cx="204826" cy="204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11312" y="25146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Trading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674352" y="251460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820656" y="2715768"/>
            <a:ext cx="512064" cy="512064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4275" y="2869387"/>
            <a:ext cx="204826" cy="20482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424160" y="25146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&amp; Lending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22960" y="361188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969264" y="3813048"/>
            <a:ext cx="512064" cy="512064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883" y="3966667"/>
            <a:ext cx="204826" cy="20482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72768" y="361188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Risk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3035808" y="361188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3182112" y="3813048"/>
            <a:ext cx="512064" cy="512064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5731" y="3966667"/>
            <a:ext cx="204826" cy="20482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785616" y="361188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Ops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5248656" y="361188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5394960" y="3813048"/>
            <a:ext cx="512064" cy="512064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8579" y="3966667"/>
            <a:ext cx="204826" cy="20482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998464" y="361188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COO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7461504" y="361188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7607808" y="3813048"/>
            <a:ext cx="512064" cy="512064"/>
          </a:xfrm>
          <a:prstGeom prst="ellipse">
            <a:avLst/>
          </a:prstGeom>
          <a:solidFill>
            <a:srgbClr val="1B2E63"/>
          </a:solidFill>
          <a:ln/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61427" y="3966667"/>
            <a:ext cx="204826" cy="20482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211312" y="361188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UAT</a:t>
            </a:r>
            <a:endParaRPr lang="en-US" sz="1250" dirty="0"/>
          </a:p>
        </p:txBody>
      </p:sp>
      <p:sp>
        <p:nvSpPr>
          <p:cNvPr id="42" name="Text 31"/>
          <p:cNvSpPr/>
          <p:nvPr/>
        </p:nvSpPr>
        <p:spPr>
          <a:xfrm>
            <a:off x="82296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8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CLIENTS — 5 ASSISTANTS</a:t>
            </a:r>
            <a:endParaRPr lang="en-US" sz="1700" dirty="0"/>
          </a:p>
        </p:txBody>
      </p:sp>
      <p:sp>
        <p:nvSpPr>
          <p:cNvPr id="43" name="Shape 32"/>
          <p:cNvSpPr/>
          <p:nvPr/>
        </p:nvSpPr>
        <p:spPr>
          <a:xfrm>
            <a:off x="822960" y="516636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44" name="Shape 33"/>
          <p:cNvSpPr/>
          <p:nvPr/>
        </p:nvSpPr>
        <p:spPr>
          <a:xfrm>
            <a:off x="969264" y="5367528"/>
            <a:ext cx="512064" cy="512064"/>
          </a:xfrm>
          <a:prstGeom prst="ellipse">
            <a:avLst/>
          </a:prstGeom>
          <a:solidFill>
            <a:srgbClr val="B9851F"/>
          </a:solidFill>
          <a:ln/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2883" y="5521147"/>
            <a:ext cx="204826" cy="20482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1572768" y="516636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Assistant</a:t>
            </a:r>
            <a:endParaRPr lang="en-US" sz="1250" dirty="0"/>
          </a:p>
        </p:txBody>
      </p:sp>
      <p:sp>
        <p:nvSpPr>
          <p:cNvPr id="47" name="Shape 35"/>
          <p:cNvSpPr/>
          <p:nvPr/>
        </p:nvSpPr>
        <p:spPr>
          <a:xfrm>
            <a:off x="3035808" y="516636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48" name="Shape 36"/>
          <p:cNvSpPr/>
          <p:nvPr/>
        </p:nvSpPr>
        <p:spPr>
          <a:xfrm>
            <a:off x="3182112" y="5367528"/>
            <a:ext cx="512064" cy="512064"/>
          </a:xfrm>
          <a:prstGeom prst="ellipse">
            <a:avLst/>
          </a:prstGeom>
          <a:solidFill>
            <a:srgbClr val="B9851F"/>
          </a:solidFill>
          <a:ln/>
        </p:spPr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5731" y="5521147"/>
            <a:ext cx="204826" cy="204826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3785616" y="516636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Assistant</a:t>
            </a:r>
            <a:endParaRPr lang="en-US" sz="1250" dirty="0"/>
          </a:p>
        </p:txBody>
      </p:sp>
      <p:sp>
        <p:nvSpPr>
          <p:cNvPr id="51" name="Shape 38"/>
          <p:cNvSpPr/>
          <p:nvPr/>
        </p:nvSpPr>
        <p:spPr>
          <a:xfrm>
            <a:off x="5248656" y="516636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52" name="Shape 39"/>
          <p:cNvSpPr/>
          <p:nvPr/>
        </p:nvSpPr>
        <p:spPr>
          <a:xfrm>
            <a:off x="5394960" y="5367528"/>
            <a:ext cx="512064" cy="512064"/>
          </a:xfrm>
          <a:prstGeom prst="ellipse">
            <a:avLst/>
          </a:prstGeom>
          <a:solidFill>
            <a:srgbClr val="B9851F"/>
          </a:solidFill>
          <a:ln/>
        </p:spPr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8579" y="5521147"/>
            <a:ext cx="204826" cy="204826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5998464" y="516636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Assistant</a:t>
            </a:r>
            <a:endParaRPr lang="en-US" sz="1250" dirty="0"/>
          </a:p>
        </p:txBody>
      </p:sp>
      <p:sp>
        <p:nvSpPr>
          <p:cNvPr id="55" name="Shape 41"/>
          <p:cNvSpPr/>
          <p:nvPr/>
        </p:nvSpPr>
        <p:spPr>
          <a:xfrm>
            <a:off x="7461504" y="516636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56" name="Shape 42"/>
          <p:cNvSpPr/>
          <p:nvPr/>
        </p:nvSpPr>
        <p:spPr>
          <a:xfrm>
            <a:off x="7607808" y="5367528"/>
            <a:ext cx="512064" cy="512064"/>
          </a:xfrm>
          <a:prstGeom prst="ellipse">
            <a:avLst/>
          </a:prstGeom>
          <a:solidFill>
            <a:srgbClr val="B9851F"/>
          </a:solidFill>
          <a:ln/>
        </p:spPr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1427" y="5521147"/>
            <a:ext cx="204826" cy="204826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8211312" y="516636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Assistant</a:t>
            </a:r>
            <a:endParaRPr lang="en-US" sz="1250" dirty="0"/>
          </a:p>
        </p:txBody>
      </p:sp>
      <p:sp>
        <p:nvSpPr>
          <p:cNvPr id="59" name="Shape 44"/>
          <p:cNvSpPr/>
          <p:nvPr/>
        </p:nvSpPr>
        <p:spPr>
          <a:xfrm>
            <a:off x="9674352" y="5166360"/>
            <a:ext cx="204825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60" name="Shape 45"/>
          <p:cNvSpPr/>
          <p:nvPr/>
        </p:nvSpPr>
        <p:spPr>
          <a:xfrm>
            <a:off x="9820656" y="5367528"/>
            <a:ext cx="512064" cy="512064"/>
          </a:xfrm>
          <a:prstGeom prst="ellipse">
            <a:avLst/>
          </a:prstGeom>
          <a:solidFill>
            <a:srgbClr val="B9851F"/>
          </a:solidFill>
          <a:ln/>
        </p:spPr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74275" y="5521147"/>
            <a:ext cx="204826" cy="204826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10424160" y="516636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&amp; Docs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1B2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BANKS TRUST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you can stand behind.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1B2E63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2258568"/>
            <a:ext cx="777240" cy="77724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917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2402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makes things up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103120" y="274320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C2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can only answer from endpoints that exist in your catalog — invented answers are impossible by design.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537960" y="19659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1B2E63"/>
          </a:solidFill>
          <a:ln/>
        </p:spPr>
      </p:sp>
      <p:sp>
        <p:nvSpPr>
          <p:cNvPr id="11" name="Shape 8"/>
          <p:cNvSpPr/>
          <p:nvPr/>
        </p:nvSpPr>
        <p:spPr>
          <a:xfrm>
            <a:off x="6830568" y="2258568"/>
            <a:ext cx="777240" cy="77724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24917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22402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always cites its source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818120" y="274320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C2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names the exact system it drew from, so staff and auditors can verify in one glance.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22960" y="42062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1B2E63"/>
          </a:solidFill>
          <a:ln/>
        </p:spPr>
      </p:sp>
      <p:sp>
        <p:nvSpPr>
          <p:cNvPr id="16" name="Shape 12"/>
          <p:cNvSpPr/>
          <p:nvPr/>
        </p:nvSpPr>
        <p:spPr>
          <a:xfrm>
            <a:off x="1115568" y="4498848"/>
            <a:ext cx="777240" cy="77724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740" y="473202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4805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Bank-grade security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2103120" y="498348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C2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credentials encrypted with AES-256. Sensitive values are masked in logs, reports and responses.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537960" y="42062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1B2E63"/>
          </a:solidFill>
          <a:ln/>
        </p:spPr>
      </p:sp>
      <p:sp>
        <p:nvSpPr>
          <p:cNvPr id="21" name="Shape 16"/>
          <p:cNvSpPr/>
          <p:nvPr/>
        </p:nvSpPr>
        <p:spPr>
          <a:xfrm>
            <a:off x="6830568" y="4498848"/>
            <a:ext cx="777240" cy="777240"/>
          </a:xfrm>
          <a:prstGeom prst="ellipse">
            <a:avLst/>
          </a:prstGeom>
          <a:solidFill>
            <a:srgbClr val="E9B94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473202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18120" y="44805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on your turf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7818120" y="498348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C2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fully on-premise with a local AI — nothing about your customers ever leaves your network.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74320"/>
            <a:ext cx="6035040" cy="6035040"/>
          </a:xfrm>
          <a:prstGeom prst="ellipse">
            <a:avLst/>
          </a:prstGeom>
          <a:solidFill>
            <a:srgbClr val="12B5A5">
              <a:alpha val="20000"/>
            </a:srgbClr>
          </a:solidFill>
          <a:ln/>
        </p:spPr>
      </p:sp>
      <p:pic>
        <p:nvPicPr>
          <p:cNvPr id="3" name="Image 0" descr="assets/phone_client_portfolio_i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78240" y="685800"/>
            <a:ext cx="274320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7373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your API catalog into a 24/7 banking expert.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68680" y="3611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AR Conversational into the systems you already have, and give every client and colleague a knowledgeable banker to talk to — instantly, in their language, around the clock.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5029200"/>
            <a:ext cx="3108960" cy="777240"/>
          </a:xfrm>
          <a:prstGeom prst="roundRect">
            <a:avLst>
              <a:gd name="adj" fmla="val 49412"/>
            </a:avLst>
          </a:prstGeom>
          <a:solidFill>
            <a:srgbClr val="E9B949"/>
          </a:solidFill>
          <a:ln/>
          <a:effectLst>
            <a:outerShdw blurRad="114300" dist="38100" dir="5400000" algn="bl" rotWithShape="0">
              <a:srgbClr val="7A8AA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5029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 live demo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6035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A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ARWeb  ·  AR Conversational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607</Words>
  <Application>Microsoft Office PowerPoint</Application>
  <PresentationFormat>Widescreen</PresentationFormat>
  <Paragraphs>106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Conversational</dc:title>
  <dc:subject>PptxGenJS Presentation</dc:subject>
  <dc:creator>ARWeb</dc:creator>
  <cp:lastModifiedBy>Osvaldo Martini</cp:lastModifiedBy>
  <cp:revision>1</cp:revision>
  <dcterms:created xsi:type="dcterms:W3CDTF">2026-06-11T06:32:31Z</dcterms:created>
  <dcterms:modified xsi:type="dcterms:W3CDTF">2026-06-11T06:36:59Z</dcterms:modified>
</cp:coreProperties>
</file>